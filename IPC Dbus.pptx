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8288000" cy="10287000"/>
  <p:notesSz cx="6858000" cy="9144000"/>
  <p:embeddedFontLst>
    <p:embeddedFont>
      <p:font typeface="Arimo" panose="020B0604020202020204" charset="0"/>
      <p:regular r:id="rId38"/>
    </p:embeddedFont>
    <p:embeddedFont>
      <p:font typeface="Arimo Bold" panose="020B0604020202020204" charset="0"/>
      <p:regular r:id="rId39"/>
    </p:embeddedFont>
    <p:embeddedFont>
      <p:font typeface="Arimo Bold Italics" panose="020B0604020202020204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4327322"/>
            <a:ext cx="11906841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INTER PROCESS COMMUNICATION &amp; DATA-BUS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90736" y="5829300"/>
            <a:ext cx="5501064" cy="48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~Sanu </a:t>
            </a:r>
            <a:r>
              <a:rPr lang="en-US" sz="3250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roy</a:t>
            </a:r>
            <a:r>
              <a:rPr lang="en-US" sz="325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(25HS10009)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404195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WHAT IS IPC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890095"/>
            <a:ext cx="15872822" cy="5935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Inter Process Communication (IPC)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is a mechanism that allows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different processes (programs)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running on a system to 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Communicate with each other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Exchange data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Coordinate their actions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SIMPLE INTUITION: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Let person A is in IIT Kharagpur and person B is in IIT Bombay. They want to start a start up. How will they communicate?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solution is to use a mobile phone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same way two different processes in operating systems communicate each other with help of IPC, where IPC plays the role of mobile phone as in the previous example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792338"/>
            <a:ext cx="8703469" cy="7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Main problem without IPC and the solutions: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885923"/>
            <a:ext cx="15872822" cy="133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For every process our system creates different execution context and different virtual address space. And hence it becomes impossible for different process to communicate and share data.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But in reality,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4404122"/>
            <a:ext cx="15872822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System is not isolated e.g. if we download a file from chrome then it gets saved and if we open it by Microsoft Word it gets opened.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5050041"/>
            <a:ext cx="15872822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For the first process, file explorer needed to get the data with chrome and in the second process, file explorer must share data with Microsoft Word.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07589" y="5762625"/>
            <a:ext cx="3505200" cy="2057400"/>
            <a:chOff x="0" y="0"/>
            <a:chExt cx="4673600" cy="2743200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4673600" cy="2743200"/>
            </a:xfrm>
            <a:custGeom>
              <a:avLst/>
              <a:gdLst/>
              <a:ahLst/>
              <a:cxnLst/>
              <a:rect l="l" t="t" r="r" b="b"/>
              <a:pathLst>
                <a:path w="4673600" h="2743200">
                  <a:moveTo>
                    <a:pt x="0" y="0"/>
                  </a:moveTo>
                  <a:lnTo>
                    <a:pt x="4673600" y="0"/>
                  </a:lnTo>
                  <a:lnTo>
                    <a:pt x="4673600" y="2743200"/>
                  </a:lnTo>
                  <a:lnTo>
                    <a:pt x="0" y="274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207589" y="8001743"/>
            <a:ext cx="15872822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This is where the IPC plays its role. By different methods, it enables the system to share data between different processes and let them communicate.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589457"/>
            <a:ext cx="9228382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Inter process communication Models: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4075357"/>
            <a:ext cx="15872822" cy="675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There are 3 types of IPC models which are further divided into sub categories–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7589" y="5139185"/>
            <a:ext cx="5290842" cy="1380087"/>
            <a:chOff x="0" y="0"/>
            <a:chExt cx="7054456" cy="184011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054469" cy="1840103"/>
            </a:xfrm>
            <a:custGeom>
              <a:avLst/>
              <a:gdLst/>
              <a:ahLst/>
              <a:cxnLst/>
              <a:rect l="l" t="t" r="r" b="b"/>
              <a:pathLst>
                <a:path w="7054469" h="1840103">
                  <a:moveTo>
                    <a:pt x="0" y="0"/>
                  </a:moveTo>
                  <a:lnTo>
                    <a:pt x="7054469" y="0"/>
                  </a:lnTo>
                  <a:lnTo>
                    <a:pt x="7054469" y="1840103"/>
                  </a:lnTo>
                  <a:lnTo>
                    <a:pt x="0" y="1840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0" b="-80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552575" y="6835673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 Model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498431" y="5139185"/>
            <a:ext cx="5290985" cy="1380087"/>
            <a:chOff x="0" y="0"/>
            <a:chExt cx="7054647" cy="1840116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7054596" cy="1840103"/>
            </a:xfrm>
            <a:custGeom>
              <a:avLst/>
              <a:gdLst/>
              <a:ahLst/>
              <a:cxnLst/>
              <a:rect l="l" t="t" r="r" b="b"/>
              <a:pathLst>
                <a:path w="7054596" h="1840103">
                  <a:moveTo>
                    <a:pt x="0" y="0"/>
                  </a:moveTo>
                  <a:lnTo>
                    <a:pt x="7054596" y="0"/>
                  </a:lnTo>
                  <a:lnTo>
                    <a:pt x="7054596" y="1840103"/>
                  </a:lnTo>
                  <a:lnTo>
                    <a:pt x="0" y="1840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81" b="-8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843417" y="6835673"/>
            <a:ext cx="3450431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Model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789416" y="5139185"/>
            <a:ext cx="5290985" cy="1380087"/>
            <a:chOff x="0" y="0"/>
            <a:chExt cx="7054647" cy="1840116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7054596" cy="1840103"/>
            </a:xfrm>
            <a:custGeom>
              <a:avLst/>
              <a:gdLst/>
              <a:ahLst/>
              <a:cxnLst/>
              <a:rect l="l" t="t" r="r" b="b"/>
              <a:pathLst>
                <a:path w="7054596" h="1840103">
                  <a:moveTo>
                    <a:pt x="0" y="0"/>
                  </a:moveTo>
                  <a:lnTo>
                    <a:pt x="7054596" y="0"/>
                  </a:lnTo>
                  <a:lnTo>
                    <a:pt x="7054596" y="1840103"/>
                  </a:lnTo>
                  <a:lnTo>
                    <a:pt x="0" y="1840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81" b="-82"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12134402" y="6835673"/>
            <a:ext cx="4265114" cy="4597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High-Level IPC Systems and D-bus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07564"/>
            <a:ext cx="5175799" cy="6850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62"/>
              </a:lnSpc>
            </a:pPr>
            <a:r>
              <a:rPr lang="en-US" sz="40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95792" y="2644741"/>
            <a:ext cx="7620743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some part of memory is allocated for two process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Both processes must agree for sharing memory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 get the shared memory, there must be buffer items that one process (producer) can produce and another process (consumer) can consume.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469193" y="2202066"/>
            <a:ext cx="5715448" cy="3418437"/>
            <a:chOff x="0" y="0"/>
            <a:chExt cx="7620597" cy="4557916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620635" cy="4557903"/>
            </a:xfrm>
            <a:custGeom>
              <a:avLst/>
              <a:gdLst/>
              <a:ahLst/>
              <a:cxnLst/>
              <a:rect l="l" t="t" r="r" b="b"/>
              <a:pathLst>
                <a:path w="7620635" h="4557903">
                  <a:moveTo>
                    <a:pt x="0" y="0"/>
                  </a:moveTo>
                  <a:lnTo>
                    <a:pt x="7620635" y="0"/>
                  </a:lnTo>
                  <a:lnTo>
                    <a:pt x="7620635" y="4557903"/>
                  </a:lnTo>
                  <a:lnTo>
                    <a:pt x="0" y="45579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9" b="-19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190529" y="6390699"/>
            <a:ext cx="3105445" cy="359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l">
              <a:lnSpc>
                <a:spcPts val="2999"/>
              </a:lnSpc>
              <a:buFont typeface="Arial" panose="020B0604020202020204" pitchFamily="34" charset="0"/>
              <a:buChar char="•"/>
            </a:pPr>
            <a:r>
              <a:rPr lang="en-US" sz="2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BUFFER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41708" y="6906782"/>
            <a:ext cx="3246392" cy="2988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UNBOUNDED BUFFER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589" y="7473105"/>
            <a:ext cx="7620743" cy="1700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NO SIZE LIMIT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PRODUCER CAN PRODUCE AS MUCH AS IT WANT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CONSUMER MAY HAVE TO WAIT IF NOTHING IS PRODUCED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PRODUCER ARE NOT SINCE IT CAN PRODUCE AS MUCH AS IT WANTS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9193" y="6984206"/>
            <a:ext cx="2587828" cy="3424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BOUNDED BUFFER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69193" y="7473105"/>
            <a:ext cx="7620743" cy="1632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SIZE LIMIT IS THERE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PRODUCER MAY HAVE TO WAIT UNTIL CONSUMER CONSUMES</a:t>
            </a:r>
          </a:p>
          <a:p>
            <a:pPr marL="301625" lvl="1" indent="-150812" algn="l">
              <a:lnSpc>
                <a:spcPts val="2812"/>
              </a:lnSpc>
              <a:buFont typeface="Arial"/>
              <a:buChar char="•"/>
            </a:pPr>
            <a:r>
              <a:rPr lang="en-US" sz="20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CONSUMERS ARE ALSO SUPPOSE TO WAIT WHEN THERE IS NOTHING PRODUCED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66800" y="726662"/>
            <a:ext cx="16383000" cy="1660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 MODEL &amp; SYNCHRONIZED MECHANISM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6800" y="2624670"/>
            <a:ext cx="13803811" cy="4891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062"/>
              </a:lnSpc>
            </a:pPr>
            <a:r>
              <a:rPr lang="en-US" sz="3250" b="1" i="1" dirty="0">
                <a:solidFill>
                  <a:srgbClr val="383838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What if one same data is needed to be passed to multiple processes?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3252340"/>
            <a:ext cx="15872822" cy="20207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Synchronization mechanisms are used to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control the order of execution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answer is Synchronized mechanism.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WORKING PRINCIPLE: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5270002"/>
            <a:ext cx="15872822" cy="3676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Semaphores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These use a counter to manage access. If the resource is available, the process enters; otherwise, it waits. They are flexible and can allow multiple processes depending on the counter value.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Mutex Locks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These are simpler and stricter. A mutex allows only one process at a time. If a process locks it, others must wait until it is released. This ensures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mutual exclusion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Monitors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These are high-level constructs that automatically handle synchronization. They combine shared data and the procedures that operate on it, ensuring safe access without manual locking.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13222"/>
            <a:ext cx="15872822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 MODEL → SHARED MODEL &amp; SYNCHRONIZED MECHANISM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086548"/>
            <a:ext cx="15872822" cy="111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If not designed properly, it can lead to: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4226271"/>
            <a:ext cx="15872822" cy="11181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AutoNum type="arabicPeriod"/>
            </a:pPr>
            <a:r>
              <a:rPr lang="en-US" sz="243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Deadlock</a:t>
            </a: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Two or more processes wait forever for each other to release resources.</a:t>
            </a:r>
          </a:p>
          <a:p>
            <a:pPr marL="367605" lvl="1" indent="-183803" algn="l">
              <a:lnSpc>
                <a:spcPts val="3687"/>
              </a:lnSpc>
              <a:buAutoNum type="arabicPeriod"/>
            </a:pPr>
            <a:r>
              <a:rPr lang="en-US" sz="243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Starvation</a:t>
            </a: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A process never gets access because others keep taking priority.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5365994"/>
            <a:ext cx="15872822" cy="1590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Despite these challenges, synchronization is critical in real-world systems like operating systems, databases, and multi-threaded applications.</a:t>
            </a:r>
          </a:p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ensures: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589" y="6977805"/>
            <a:ext cx="15872822" cy="168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AutoNum type="arabi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Correct program execution</a:t>
            </a:r>
          </a:p>
          <a:p>
            <a:pPr marL="367605" lvl="1" indent="-183803" algn="l">
              <a:lnSpc>
                <a:spcPts val="3687"/>
              </a:lnSpc>
              <a:buAutoNum type="arabi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integrity</a:t>
            </a:r>
          </a:p>
          <a:p>
            <a:pPr marL="367605" lvl="1" indent="-183803" algn="l">
              <a:lnSpc>
                <a:spcPts val="3687"/>
              </a:lnSpc>
              <a:buAutoNum type="arabi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Efficient use of shared resources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589" y="8687391"/>
            <a:ext cx="15872822" cy="5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 simple terms, synchronization is what makes </a:t>
            </a:r>
            <a:r>
              <a:rPr lang="en-US" sz="243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shared memory safe and usable</a:t>
            </a: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 concurrent systems.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198807" y="913057"/>
            <a:ext cx="6165209" cy="818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1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MODEL: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98807" y="2306393"/>
            <a:ext cx="10065544" cy="270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Processes communicate by </a:t>
            </a: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sending and receiving messages</a:t>
            </a: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instead of sharing memory.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Communication happens through the </a:t>
            </a: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operating system</a:t>
            </a: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Ensures </a:t>
            </a: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modular and safer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Basic Working Principle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98807" y="5025180"/>
            <a:ext cx="10065544" cy="4204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AutoNum type="arabicPeriod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 message passing, communication happens using two fundamental operations:</a:t>
            </a:r>
          </a:p>
          <a:p>
            <a:pPr marL="358180" lvl="1" indent="-179090" algn="l">
              <a:lnSpc>
                <a:spcPts val="3625"/>
              </a:lnSpc>
              <a:buAutoNum type="arabicPeriod"/>
            </a:pP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Send</a:t>
            </a: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A process sends a message to another process.</a:t>
            </a:r>
          </a:p>
          <a:p>
            <a:pPr marL="358180" lvl="1" indent="-179090" algn="l">
              <a:lnSpc>
                <a:spcPts val="3625"/>
              </a:lnSpc>
              <a:buAutoNum type="arabicPeriod"/>
            </a:pP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Receive</a:t>
            </a: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A process receives a message from another process.</a:t>
            </a:r>
          </a:p>
          <a:p>
            <a:pPr marL="358180" lvl="1" indent="-179090" algn="l">
              <a:lnSpc>
                <a:spcPts val="3625"/>
              </a:lnSpc>
              <a:buAutoNum type="arabicPeriod"/>
            </a:pP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operating system acts as an intermediary, ensuring that messages are delivered correctly. This avoids direct interaction between processes and reduces the risk of data corruption.</a:t>
            </a:r>
          </a:p>
          <a:p>
            <a:pPr marL="358180" lvl="1" indent="-179090" algn="l">
              <a:lnSpc>
                <a:spcPts val="3625"/>
              </a:lnSpc>
              <a:buAutoNum type="arabicPeriod"/>
            </a:pPr>
            <a:r>
              <a:rPr lang="en-US" sz="237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well-defined protocol</a:t>
            </a:r>
            <a:r>
              <a:rPr lang="en-US" sz="23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both sender and receiver must agree on message format and timing.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2296320" y="3647923"/>
            <a:ext cx="4565447" cy="2925966"/>
            <a:chOff x="0" y="0"/>
            <a:chExt cx="6087262" cy="3901288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6087237" cy="3901313"/>
            </a:xfrm>
            <a:custGeom>
              <a:avLst/>
              <a:gdLst/>
              <a:ahLst/>
              <a:cxnLst/>
              <a:rect l="l" t="t" r="r" b="b"/>
              <a:pathLst>
                <a:path w="6087237" h="3901313">
                  <a:moveTo>
                    <a:pt x="0" y="0"/>
                  </a:moveTo>
                  <a:lnTo>
                    <a:pt x="6087237" y="0"/>
                  </a:lnTo>
                  <a:lnTo>
                    <a:pt x="6087237" y="3901313"/>
                  </a:lnTo>
                  <a:lnTo>
                    <a:pt x="0" y="3901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1" b="-1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134818"/>
            <a:ext cx="5865914" cy="780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MODEL: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2448378"/>
            <a:ext cx="15872822" cy="51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Types of Communication (Direct vs Indirect)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2859291"/>
            <a:ext cx="15872822" cy="51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374"/>
              </a:lnSpc>
              <a:buAutoNum type="arabicPeriod"/>
            </a:pPr>
            <a:r>
              <a:rPr lang="en-US" sz="22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Direct Communication</a:t>
            </a: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3380632"/>
            <a:ext cx="15872822" cy="1031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sender explicitly names the receiver (e.g., send(P2, message), receive(P1, message)). This creates a direct link between processes.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Establishes between two processes only.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589" y="4633170"/>
            <a:ext cx="15872822" cy="510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374"/>
              </a:lnSpc>
              <a:buAutoNum type="arabicPeriod"/>
            </a:pPr>
            <a:r>
              <a:rPr lang="en-US" sz="22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Indirect Communication</a:t>
            </a: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589" y="4944666"/>
            <a:ext cx="15872822" cy="207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Messages are sent to a </a:t>
            </a:r>
            <a:r>
              <a:rPr lang="en-US" sz="22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mailbox or port</a:t>
            </a: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instead of directly to a process. Any process with access to that mailbox can receive the message.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There can be multiple users linked with the same mailbox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Only one can receive at a time but receive operation can be called in any order (the priority is set by Round Robin Algorithm)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uses 4 processes: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552430"/>
            <a:ext cx="15872822" cy="207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96578" lvl="3" indent="-299145" algn="l">
              <a:lnSpc>
                <a:spcPts val="3374"/>
              </a:lnSpc>
              <a:buAutoNum type="romanLcPeriod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pipes</a:t>
            </a:r>
          </a:p>
          <a:p>
            <a:pPr marL="1196578" lvl="3" indent="-299145" algn="l">
              <a:lnSpc>
                <a:spcPts val="3374"/>
              </a:lnSpc>
              <a:buAutoNum type="romanLcPeriod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sockets</a:t>
            </a:r>
          </a:p>
          <a:p>
            <a:pPr marL="1196578" lvl="3" indent="-299145" algn="l">
              <a:lnSpc>
                <a:spcPts val="3374"/>
              </a:lnSpc>
              <a:buAutoNum type="romanLcPeriod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signals</a:t>
            </a:r>
          </a:p>
          <a:p>
            <a:pPr marL="1196578" lvl="3" indent="-299145" algn="l">
              <a:lnSpc>
                <a:spcPts val="3374"/>
              </a:lnSpc>
              <a:buAutoNum type="romanLcPeriod"/>
            </a:pPr>
            <a:r>
              <a:rPr lang="en-US" sz="22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messge quese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08012"/>
            <a:ext cx="6556029" cy="876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model: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402529"/>
            <a:ext cx="15872822" cy="150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  Buffering and Message Queues</a:t>
            </a:r>
          </a:p>
          <a:p>
            <a:pPr marL="386457" lvl="1" indent="-193229" algn="l">
              <a:lnSpc>
                <a:spcPts val="4000"/>
              </a:lnSpc>
              <a:buFont typeface="Arial"/>
              <a:buChar char="•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Messages are often stored temporarily in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buffers or queues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managed by the OS.</a:t>
            </a:r>
          </a:p>
          <a:p>
            <a:pPr marL="386457" lvl="1" indent="-193229" algn="l">
              <a:lnSpc>
                <a:spcPts val="4000"/>
              </a:lnSpc>
              <a:buFont typeface="Arial"/>
              <a:buChar char="•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There are three types: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7901" y="4085971"/>
            <a:ext cx="15872822" cy="1856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Zero Capacity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No buffering; sender must wait until receiver is ready.</a:t>
            </a:r>
          </a:p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Bounded Capacity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Limited buffer size; sender waits if buffer is full.</a:t>
            </a:r>
          </a:p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Unbounded Capacity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Unlimited buffer; sender never waits.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6478" y="6115920"/>
            <a:ext cx="15872822" cy="492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Real-World Examples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1938" y="6781209"/>
            <a:ext cx="15872822" cy="247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Distributed Systems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Communication over networks using protocols.</a:t>
            </a:r>
          </a:p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Microservices Architecture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Services communicate via APIs or message queues.</a:t>
            </a:r>
          </a:p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Operating Systems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Some OS designs (like microkernels) rely heavily on message passing.</a:t>
            </a:r>
          </a:p>
          <a:p>
            <a:pPr marL="386457" lvl="1" indent="-193229" algn="l">
              <a:lnSpc>
                <a:spcPts val="4000"/>
              </a:lnSpc>
              <a:buAutoNum type="arabicPeriod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Technologies like pipes, sockets, and message queues are practical implementations of this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352675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model: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838575"/>
            <a:ext cx="15872822" cy="4038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Disadvantages of Message Passing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Despite its advantages, message passing has some drawbacks: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Slower Communication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Involves system calls and copying of data, which adds overhead.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Complex Protocol Design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Processes must agree on message formats and timing.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Latency Issues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: Delays may occur due to buffering and scheduling.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Compared to shared memory, message passing is generally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less efficient but more secure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680124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IPC IN UNIX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166024"/>
            <a:ext cx="15872822" cy="538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Unix keeps every process isolated, hence the same problem as discussed previously reises and hence Ipc is needed.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Types of IPC in UNIX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Shared Memory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Named Pipes (FIFOs)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Each mechanism differs in: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Speed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Complexity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Scope (related vs unrelated processes)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19200" y="1613666"/>
            <a:ext cx="13346611" cy="691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IPC METHODS IN UNIX         SHARED MEMORY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1600" y="2783462"/>
            <a:ext cx="15872822" cy="667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concept of Shared Memory in </a:t>
            </a:r>
            <a:r>
              <a:rPr lang="en-US" sz="2249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unix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is same as previously discussed but it is more low level in this case In UNIX/Linux, shared memory is not automatic—you must </a:t>
            </a:r>
            <a:r>
              <a:rPr lang="en-US" sz="2249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create and manage it manually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using system calls like: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shmget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-&gt; create shared memory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shmat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-&gt; attach memory to process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shmdt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-&gt; detach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shmctl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-&gt; control/delete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OS ensures that only </a:t>
            </a:r>
            <a:r>
              <a:rPr lang="en-US" sz="2249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authorized processes</a:t>
            </a: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can access the shared memory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So it's </a:t>
            </a:r>
            <a:r>
              <a:rPr lang="en-US" sz="2249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safe but controlled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 </a:t>
            </a:r>
            <a:r>
              <a:rPr lang="en-US" sz="2249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does NOT provide synchronization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You must explicitly use: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Semaphores</a:t>
            </a:r>
          </a:p>
          <a:p>
            <a:pPr marL="767953" lvl="2" indent="-255984" algn="l">
              <a:lnSpc>
                <a:spcPts val="3374"/>
              </a:lnSpc>
              <a:buFont typeface="Arial"/>
              <a:buChar char="⚬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Mutex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249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Same as theory, but in UNIX must be implemented explicitly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1631CB5-921B-C520-6F79-2EB13ADE6607}"/>
              </a:ext>
            </a:extLst>
          </p:cNvPr>
          <p:cNvCxnSpPr/>
          <p:nvPr/>
        </p:nvCxnSpPr>
        <p:spPr>
          <a:xfrm>
            <a:off x="7696200" y="2019300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4400" y="2933700"/>
            <a:ext cx="15785011" cy="801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IPC METHODS IN UNIX       MESSAGE PASSING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47800" y="4431959"/>
            <a:ext cx="15872822" cy="254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3250" lvl="1" indent="-301625" algn="l">
              <a:lnSpc>
                <a:spcPts val="4312"/>
              </a:lnSpc>
              <a:buFont typeface="Arial"/>
              <a:buChar char="•"/>
            </a:pPr>
            <a:r>
              <a:rPr lang="en-US" sz="4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in </a:t>
            </a:r>
            <a:r>
              <a:rPr lang="en-US" sz="4000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unix</a:t>
            </a:r>
            <a:r>
              <a:rPr lang="en-US" sz="40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work by 3 processes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Sockets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queues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3AE1063-C3CF-E791-E56A-90D218542D7A}"/>
              </a:ext>
            </a:extLst>
          </p:cNvPr>
          <p:cNvCxnSpPr/>
          <p:nvPr/>
        </p:nvCxnSpPr>
        <p:spPr>
          <a:xfrm>
            <a:off x="8534400" y="3390900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52499" y="1931913"/>
            <a:ext cx="10984411" cy="6910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750"/>
              </a:lnSpc>
            </a:pPr>
            <a:r>
              <a:rPr lang="en-US" sz="456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       Named Pipes: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903334"/>
            <a:ext cx="15872822" cy="311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Named pipes overcome the limitation of unnamed pipes by allowing communication between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unrelated processes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exist as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special files in the file system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meaning any process with permission can access them.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Unlike unnamed pipes: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persist even after processes terminate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allow communication without a parent-child relationship</a:t>
            </a:r>
          </a:p>
          <a:p>
            <a:pPr marL="339328" lvl="1" indent="-169664" algn="l">
              <a:lnSpc>
                <a:spcPts val="3374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are still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FIFO-based and unidirectional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7589" y="6300788"/>
            <a:ext cx="7362825" cy="2238375"/>
            <a:chOff x="0" y="0"/>
            <a:chExt cx="9817100" cy="29845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9817100" cy="2984500"/>
            </a:xfrm>
            <a:custGeom>
              <a:avLst/>
              <a:gdLst/>
              <a:ahLst/>
              <a:cxnLst/>
              <a:rect l="l" t="t" r="r" b="b"/>
              <a:pathLst>
                <a:path w="9817100" h="2984500">
                  <a:moveTo>
                    <a:pt x="0" y="0"/>
                  </a:moveTo>
                  <a:lnTo>
                    <a:pt x="9817100" y="0"/>
                  </a:lnTo>
                  <a:lnTo>
                    <a:pt x="9817100" y="2984500"/>
                  </a:lnTo>
                  <a:lnTo>
                    <a:pt x="0" y="2984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30B9CE-775D-F86B-4DD7-C1BB4340BB17}"/>
              </a:ext>
            </a:extLst>
          </p:cNvPr>
          <p:cNvCxnSpPr/>
          <p:nvPr/>
        </p:nvCxnSpPr>
        <p:spPr>
          <a:xfrm>
            <a:off x="5791200" y="2324100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37074" y="1445856"/>
            <a:ext cx="12813211" cy="8013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       Unnamed Pipes: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743495"/>
            <a:ext cx="7515520" cy="6245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Pipes are the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simplest IPC mechanism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 UNIX.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Allows communication between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related processes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(like parent and child). A pipe is created using a system call and provides a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unidirectional communication channel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One process writes data into the pipe, and another reads from it. The data flows in a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first-in, first-out (FIFO)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manner.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However, unnamed pipes have limitations: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Only work between related processes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One-way communication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74416" y="2945016"/>
            <a:ext cx="6010275" cy="2552700"/>
            <a:chOff x="0" y="0"/>
            <a:chExt cx="8013700" cy="34036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8013700" cy="3403600"/>
            </a:xfrm>
            <a:custGeom>
              <a:avLst/>
              <a:gdLst/>
              <a:ahLst/>
              <a:cxnLst/>
              <a:rect l="l" t="t" r="r" b="b"/>
              <a:pathLst>
                <a:path w="8013700" h="3403600">
                  <a:moveTo>
                    <a:pt x="0" y="0"/>
                  </a:moveTo>
                  <a:lnTo>
                    <a:pt x="8013700" y="0"/>
                  </a:lnTo>
                  <a:lnTo>
                    <a:pt x="8013700" y="3403600"/>
                  </a:lnTo>
                  <a:lnTo>
                    <a:pt x="0" y="3403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65CBFF-91B7-E9E9-9A37-716623003D53}"/>
              </a:ext>
            </a:extLst>
          </p:cNvPr>
          <p:cNvCxnSpPr/>
          <p:nvPr/>
        </p:nvCxnSpPr>
        <p:spPr>
          <a:xfrm>
            <a:off x="6934200" y="1866414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75731" y="2147248"/>
            <a:ext cx="16242211" cy="765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37"/>
              </a:lnSpc>
            </a:pPr>
            <a:r>
              <a:rPr lang="en-US" sz="5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       MESSAGE QUEUES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329140"/>
            <a:ext cx="7536504" cy="4120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4000"/>
              </a:lnSpc>
              <a:buFont typeface="Arial"/>
              <a:buChar char="•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queues allow processes to exchange messages in a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structured and asynchronous manner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86457" lvl="1" indent="-193229" algn="l">
              <a:lnSpc>
                <a:spcPts val="4000"/>
              </a:lnSpc>
              <a:buFont typeface="Arial"/>
              <a:buChar char="•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Instead of a continuous stream of data (like pipes), messages are sent as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discrete units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86457" lvl="1" indent="-193229" algn="l">
              <a:lnSpc>
                <a:spcPts val="4000"/>
              </a:lnSpc>
              <a:buFont typeface="Arial"/>
              <a:buChar char="•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Each message can have:</a:t>
            </a:r>
          </a:p>
          <a:p>
            <a:pPr marL="815082" lvl="2" indent="-271694" algn="l">
              <a:lnSpc>
                <a:spcPts val="4000"/>
              </a:lnSpc>
              <a:buFont typeface="Arial"/>
              <a:buChar char="⚬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type</a:t>
            </a:r>
          </a:p>
          <a:p>
            <a:pPr marL="815082" lvl="2" indent="-271694" algn="l">
              <a:lnSpc>
                <a:spcPts val="4000"/>
              </a:lnSpc>
              <a:buFont typeface="Arial"/>
              <a:buChar char="⚬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priority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553423" y="3503857"/>
            <a:ext cx="4248150" cy="3371850"/>
            <a:chOff x="0" y="0"/>
            <a:chExt cx="5664200" cy="44958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5664200" cy="4495800"/>
            </a:xfrm>
            <a:custGeom>
              <a:avLst/>
              <a:gdLst/>
              <a:ahLst/>
              <a:cxnLst/>
              <a:rect l="l" t="t" r="r" b="b"/>
              <a:pathLst>
                <a:path w="5664200" h="4495800">
                  <a:moveTo>
                    <a:pt x="0" y="0"/>
                  </a:moveTo>
                  <a:lnTo>
                    <a:pt x="5664200" y="0"/>
                  </a:lnTo>
                  <a:lnTo>
                    <a:pt x="5664200" y="4495800"/>
                  </a:lnTo>
                  <a:lnTo>
                    <a:pt x="0" y="449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1207589" y="7803652"/>
            <a:ext cx="15872822" cy="616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OS manages the queue and ensures messages are delivered properly. This allows more flexible communication than pipes.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CBE6E9-CD9D-19A9-FA65-2249C05A6F53}"/>
              </a:ext>
            </a:extLst>
          </p:cNvPr>
          <p:cNvCxnSpPr/>
          <p:nvPr/>
        </p:nvCxnSpPr>
        <p:spPr>
          <a:xfrm>
            <a:off x="7543800" y="2476500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838200" y="1423776"/>
            <a:ext cx="11136811" cy="64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PASSING        SOCKETS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3325" y="2832753"/>
            <a:ext cx="4416628" cy="59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1. Server Side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3325" y="3472596"/>
            <a:ext cx="7599759" cy="188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Create socket → socket()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Bind to address → bind()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Listen for connections → listen()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Accept connection → accept()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55794" y="5248565"/>
            <a:ext cx="4416628" cy="59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2. Client Side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93325" y="5992858"/>
            <a:ext cx="7599759" cy="93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Create socket → socket()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Connect to server → connect()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5794" y="7024534"/>
            <a:ext cx="4416628" cy="59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3. Communication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3561" y="7707510"/>
            <a:ext cx="7599759" cy="938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Send data → send() / write()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Receive data → </a:t>
            </a:r>
            <a:r>
              <a:rPr lang="en-US" sz="2125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recv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() / read()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0814867" y="2574658"/>
            <a:ext cx="6079779" cy="4057202"/>
            <a:chOff x="0" y="0"/>
            <a:chExt cx="8106372" cy="5409603"/>
          </a:xfrm>
        </p:grpSpPr>
        <p:sp>
          <p:nvSpPr>
            <p:cNvPr id="15" name="Freeform 15" descr="preencoded.png"/>
            <p:cNvSpPr/>
            <p:nvPr/>
          </p:nvSpPr>
          <p:spPr>
            <a:xfrm>
              <a:off x="0" y="0"/>
              <a:ext cx="8106410" cy="5409565"/>
            </a:xfrm>
            <a:custGeom>
              <a:avLst/>
              <a:gdLst/>
              <a:ahLst/>
              <a:cxnLst/>
              <a:rect l="l" t="t" r="r" b="b"/>
              <a:pathLst>
                <a:path w="8106410" h="5409565">
                  <a:moveTo>
                    <a:pt x="0" y="0"/>
                  </a:moveTo>
                  <a:lnTo>
                    <a:pt x="8106410" y="0"/>
                  </a:lnTo>
                  <a:lnTo>
                    <a:pt x="8106410" y="5409565"/>
                  </a:lnTo>
                  <a:lnTo>
                    <a:pt x="0" y="54095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8" b="-29"/>
              </a:stretch>
            </a:blipFill>
          </p:spPr>
        </p:sp>
      </p:grp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E012D03-8959-2385-2E7F-0E925BC21BF0}"/>
              </a:ext>
            </a:extLst>
          </p:cNvPr>
          <p:cNvCxnSpPr/>
          <p:nvPr/>
        </p:nvCxnSpPr>
        <p:spPr>
          <a:xfrm>
            <a:off x="6324600" y="1766299"/>
            <a:ext cx="849811" cy="0"/>
          </a:xfrm>
          <a:prstGeom prst="straightConnector1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8">
            <a:extLst>
              <a:ext uri="{FF2B5EF4-FFF2-40B4-BE49-F238E27FC236}">
                <a16:creationId xmlns:a16="http://schemas.microsoft.com/office/drawing/2014/main" id="{678D94DC-B3A7-2D27-2C7B-107549CBA2A4}"/>
              </a:ext>
            </a:extLst>
          </p:cNvPr>
          <p:cNvSpPr txBox="1"/>
          <p:nvPr/>
        </p:nvSpPr>
        <p:spPr>
          <a:xfrm>
            <a:off x="1179032" y="2251630"/>
            <a:ext cx="8301621" cy="513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28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There are 3 parts of the whole process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904132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Signals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527992"/>
            <a:ext cx="7515520" cy="3555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Signals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 Unix are a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lightweight IPC (Inter-Process Communication) mechanism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used to notify a process that some event has occurred. A signal does not carry data; it only informs a process that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an event has occurred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How Signals Work 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5167" y="6305979"/>
            <a:ext cx="7515520" cy="3124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3934" lvl="2" indent="-277978" algn="l">
              <a:lnSpc>
                <a:spcPts val="4312"/>
              </a:lnSpc>
              <a:buAutoNum type="alphaLcPeriod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signal is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generated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(by OS, user, or another process)</a:t>
            </a:r>
          </a:p>
          <a:p>
            <a:pPr marL="833934" lvl="2" indent="-277978" algn="l">
              <a:lnSpc>
                <a:spcPts val="4312"/>
              </a:lnSpc>
              <a:buAutoNum type="alphaLcPeriod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signal is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sent to a target process</a:t>
            </a:r>
          </a:p>
          <a:p>
            <a:pPr marL="833934" lvl="2" indent="-277978" algn="l">
              <a:lnSpc>
                <a:spcPts val="4312"/>
              </a:lnSpc>
              <a:buAutoNum type="alphaLcPeriod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process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handles the signal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 one of three ways: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574416" y="2729503"/>
            <a:ext cx="7515520" cy="4603994"/>
            <a:chOff x="0" y="0"/>
            <a:chExt cx="10020694" cy="6138659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020681" cy="6138672"/>
            </a:xfrm>
            <a:custGeom>
              <a:avLst/>
              <a:gdLst/>
              <a:ahLst/>
              <a:cxnLst/>
              <a:rect l="l" t="t" r="r" b="b"/>
              <a:pathLst>
                <a:path w="10020681" h="6138672">
                  <a:moveTo>
                    <a:pt x="0" y="0"/>
                  </a:moveTo>
                  <a:lnTo>
                    <a:pt x="10020681" y="0"/>
                  </a:lnTo>
                  <a:lnTo>
                    <a:pt x="10020681" y="6138672"/>
                  </a:lnTo>
                  <a:lnTo>
                    <a:pt x="0" y="61386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35" r="-35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680124"/>
            <a:ext cx="7675959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Semaphores (Synchronization)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166024"/>
            <a:ext cx="15872822" cy="5383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Semaphores are used to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control access to shared resources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work using a counter: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If resource is available → process proceeds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If not → process waits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Semaphores ensure: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Mutual exclusion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Proper ordering of execution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They are often used with shared memory to prevent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race conditions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995953"/>
            <a:ext cx="4485684" cy="59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IPC IN LINUX: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07589" y="1886245"/>
            <a:ext cx="9877425" cy="5172075"/>
            <a:chOff x="0" y="0"/>
            <a:chExt cx="13169900" cy="6896100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3169900" cy="6896100"/>
            </a:xfrm>
            <a:custGeom>
              <a:avLst/>
              <a:gdLst/>
              <a:ahLst/>
              <a:cxnLst/>
              <a:rect l="l" t="t" r="r" b="b"/>
              <a:pathLst>
                <a:path w="13169900" h="6896100">
                  <a:moveTo>
                    <a:pt x="0" y="0"/>
                  </a:moveTo>
                  <a:lnTo>
                    <a:pt x="13169900" y="0"/>
                  </a:lnTo>
                  <a:lnTo>
                    <a:pt x="13169900" y="6896100"/>
                  </a:lnTo>
                  <a:lnTo>
                    <a:pt x="0" y="6896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207589" y="7184231"/>
            <a:ext cx="15872822" cy="2824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provides a rich and flexible set of IPC mechanisms that allow processes to </a:t>
            </a: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communicate, synchronize, and share data efficiently</a:t>
            </a: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Unlike basic UNIX, Linux supports both:</a:t>
            </a:r>
          </a:p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System V IPC (traditional)</a:t>
            </a:r>
          </a:p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POSIX IPC (modern, standardized)</a:t>
            </a:r>
          </a:p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This dual support makes Linux highly versatile—it can run </a:t>
            </a: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legacy applications</a:t>
            </a: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while also supporting </a:t>
            </a: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modern, scalable systems</a:t>
            </a: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24246" lvl="1" indent="-162123" algn="l">
              <a:lnSpc>
                <a:spcPts val="2841"/>
              </a:lnSpc>
              <a:buFont typeface="Arial"/>
              <a:buChar char="•"/>
            </a:pP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IPC is used everywhere—from simple shell commands to </a:t>
            </a:r>
            <a:r>
              <a:rPr lang="en-US" sz="2149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complex distributed systems and servers</a:t>
            </a:r>
            <a:r>
              <a:rPr lang="en-US" sz="2149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07564"/>
            <a:ext cx="10971314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SYSTEM V IPC (TRADITIONAL MECHANISMS)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493464"/>
            <a:ext cx="15872822" cy="672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System V IPC is the older IPC system, still widely used.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includes: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Message Queues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Shared Memory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Semaphores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These mechanisms use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keys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to identify resources, meaning processes must agree on a key to communicate.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While powerful, System V IPC can be: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Harder to manage</a:t>
            </a:r>
          </a:p>
          <a:p>
            <a:pPr marL="833934" lvl="2" indent="-277978" algn="l">
              <a:lnSpc>
                <a:spcPts val="4312"/>
              </a:lnSpc>
              <a:buFont typeface="Arial"/>
              <a:buChar char="⚬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Less intuitive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But it gives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fine-grained control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is useful in low-level programming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62780"/>
            <a:ext cx="7452274" cy="81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62"/>
              </a:lnSpc>
            </a:pPr>
            <a:r>
              <a:rPr lang="en-US" sz="487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IPC (MODERN APPROACH)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359819"/>
            <a:ext cx="15872822" cy="5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IPC was introduced to make IPC: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2929680"/>
            <a:ext cx="15872822" cy="168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Easier to use</a:t>
            </a:r>
          </a:p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More portable</a:t>
            </a:r>
          </a:p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More consistent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7589" y="4639266"/>
            <a:ext cx="15872822" cy="5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includes: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589" y="5209137"/>
            <a:ext cx="15872822" cy="1688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message queues</a:t>
            </a:r>
          </a:p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shared memory</a:t>
            </a:r>
          </a:p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semaphores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589" y="6918722"/>
            <a:ext cx="15872822" cy="548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7605" lvl="1" indent="-183803" algn="l">
              <a:lnSpc>
                <a:spcPts val="3687"/>
              </a:lnSpc>
              <a:buFont typeface="Arial"/>
              <a:buChar char="•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Unlike System V: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07589" y="7488584"/>
            <a:ext cx="15872822" cy="912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6230" lvl="2" indent="-265410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Uses </a:t>
            </a:r>
            <a:r>
              <a:rPr lang="en-US" sz="243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file-like naming (e.g., /myqueue)</a:t>
            </a:r>
          </a:p>
          <a:p>
            <a:pPr marL="796195" lvl="2" indent="-265398" algn="l">
              <a:lnSpc>
                <a:spcPts val="3687"/>
              </a:lnSpc>
              <a:buAutoNum type="alphaLcPeriod"/>
            </a:pPr>
            <a:r>
              <a:rPr lang="en-US" sz="2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Integrates better with modern APIs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07564"/>
            <a:ext cx="8935193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PIPES IN LINUX (VERY IMPORTANT)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493464"/>
            <a:ext cx="15872822" cy="672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 in linux is same as pipe in unix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But linux provides more 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has more optimized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kernel buffer handling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integrates pipes deeply with the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shell environment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supports: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Non-blocking pipes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Advanced file descriptor control (fcntl)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Pipe Buffer Size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allows tuning buffer size (in some cases)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Traditional UNIX systems were more limited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214733"/>
            <a:ext cx="5520776" cy="718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Named Pipes in Linux: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308327"/>
            <a:ext cx="15872822" cy="464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Named pipe in linux is same as pipe in unix except: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7589" y="3198163"/>
            <a:ext cx="4050211" cy="392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How They Work Internally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95400" y="3899226"/>
            <a:ext cx="15872822" cy="236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Even though they look like files: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Data is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not written to disk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goes into a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kernel buffer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One process writes → another reads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File system is just used for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naming and access control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7589" y="6447977"/>
            <a:ext cx="4355011" cy="3921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56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Advantages of Named Pipes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7589" y="7155066"/>
            <a:ext cx="15872822" cy="1888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Works between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unrelated processes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Simple to use (file-based)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No need for shared memory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Automatic synchronization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524895"/>
            <a:ext cx="8972398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POSIX MESSAGE QUEUES IN LINUX: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010795"/>
            <a:ext cx="15872822" cy="5694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The POSIX message queues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are more modern and easier to use.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file-like naming (e.g., /queue1)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: instead of key-based identification, making queue management simpler and more intuitive.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Better support for message priorities 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higher-priority messages to be processed before others, which is useful in real-time systems.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Non-blocking and asynchronous operations: Improved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performance by allowing processes to continue execution without waiting.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Has a more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optimized kernel implementation 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Faster message handling and better scalability for multiple processes.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Better integration with modern applications and systems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033462"/>
            <a:ext cx="739169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SYNCHRONISATION IN LINUX: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519363"/>
            <a:ext cx="15872822" cy="667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Extra Synchronization Features in Linux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extends traditional UNIX synchronization by providing more advanced and efficient mechanisms. While UNIX mainly used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System V semaphores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Linux adds several modern tools.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introduces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mutex locks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are simpler and faster than semaphores for ensuring that only one process or thread accesses a critical section at a time. It also provides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condition variables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allow processes to wait for specific conditions instead of continuously checking, improving CPU efficiency.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Another improvement is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POSIX semaphores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are easier to use and more flexible compared to older System V semaphores. Linux also supports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read-write locks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allowing multiple processes to read data simultaneously while restricting write access to one process, improving performance.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Additionally, Linux uses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futexes (fast user-space mutexes)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reduce kernel involvement and increase speed. It also supports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thread-level synchronization (pthreads)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enabling efficient synchronization in multi-threaded programs.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369666"/>
            <a:ext cx="11812343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EXTRA SYNCHRONIZATION FEATURES IN LINUX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855566"/>
            <a:ext cx="15872822" cy="6004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extends traditional UNIX synchronization by providing more advanced and efficient mechanisms. While UNIX mainly used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System V semaphores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Linux adds several modern tools.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Linux introduces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mutex locks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are simpler and faster than semaphores for ensuring that only one process or thread accesses a critical section at a time. It also provides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condition variables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allow processes to wait for specific conditions instead of continuously checking, improving CPU efficiency.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Another improvement is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POSIX semaphores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are easier to use and more flexible compared to older System V semaphores. Linux also supports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read-write locks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allowing multiple processes to read data simultaneously while restricting write access to one process, improving performance.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Additionally, Linux uses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futexes (fast user-space mutexes)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which reduce kernel involvement and increase speed. It also supports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thread-level synchronization (pthreads)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enabling efficient synchronization in multi-threaded programs.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345559"/>
            <a:ext cx="4485684" cy="598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5"/>
              </a:lnSpc>
            </a:pPr>
            <a:r>
              <a:rPr lang="en-US" sz="350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WHAT IS D-BUS?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8" y="2188216"/>
            <a:ext cx="17537611" cy="270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3922" lvl="1" indent="-131961" algn="l">
              <a:lnSpc>
                <a:spcPct val="150000"/>
              </a:lnSpc>
              <a:buFont typeface="Arial"/>
              <a:buChar char="•"/>
            </a:pP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D-Bus (Desktop Bus)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is a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message-based IPC system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used in Linux and other Unix-like systems.</a:t>
            </a:r>
          </a:p>
          <a:p>
            <a:pPr marL="263922" lvl="1" indent="-131961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allows processes (called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services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) to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communicate with each other by sending messages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 a structured way.</a:t>
            </a:r>
          </a:p>
          <a:p>
            <a:pPr marL="263922" lvl="1" indent="-131961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Unlike low-level IPC (pipes, shared memory), D-Bus provides a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high-level, organized communication system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263922" lvl="1" indent="-131961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is widely used in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desktop environments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(like GNOME, KDE) and system services.</a:t>
            </a:r>
          </a:p>
          <a:p>
            <a:pPr marL="263922" lvl="1" indent="-131961" algn="l">
              <a:lnSpc>
                <a:spcPct val="150000"/>
              </a:lnSpc>
              <a:buFont typeface="Arial"/>
              <a:buChar char="•"/>
            </a:pP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D-Bus follows a </a:t>
            </a:r>
            <a:r>
              <a:rPr lang="en-US" sz="2400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client-server model</a:t>
            </a:r>
            <a:r>
              <a:rPr lang="en-US" sz="2400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where applications request services and receive responses.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07589" y="5143500"/>
            <a:ext cx="14032411" cy="3759698"/>
            <a:chOff x="0" y="0"/>
            <a:chExt cx="12941300" cy="6426200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12941300" cy="6426200"/>
            </a:xfrm>
            <a:custGeom>
              <a:avLst/>
              <a:gdLst/>
              <a:ahLst/>
              <a:cxnLst/>
              <a:rect l="l" t="t" r="r" b="b"/>
              <a:pathLst>
                <a:path w="12941300" h="6426200">
                  <a:moveTo>
                    <a:pt x="0" y="0"/>
                  </a:moveTo>
                  <a:lnTo>
                    <a:pt x="12941300" y="0"/>
                  </a:lnTo>
                  <a:lnTo>
                    <a:pt x="12941300" y="6426200"/>
                  </a:lnTo>
                  <a:lnTo>
                    <a:pt x="0" y="6426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1175890"/>
            <a:ext cx="10081622" cy="64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WORKING PRINCIPLE OF DBUS: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357733"/>
            <a:ext cx="10081622" cy="4030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Communication in D-Bus happens through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structured messages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not shared memory or raw data streams. This means processes exchange clearly defined information (like method calls or signals), making communication more organized and easier to manage.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Instead of sending messages directly to each other, processes communicate through a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central message bus (broker)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 When a process wants to interact with another:</a:t>
            </a:r>
          </a:p>
          <a:p>
            <a:pPr marL="749102" lvl="2" indent="-249701" algn="l">
              <a:lnSpc>
                <a:spcPts val="3124"/>
              </a:lnSpc>
              <a:buFont typeface="Arial"/>
              <a:buChar char="⚬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It sends a message to the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D-Bus daemon (bus)</a:t>
            </a:r>
          </a:p>
          <a:p>
            <a:pPr marL="749102" lvl="2" indent="-249701" algn="l">
              <a:lnSpc>
                <a:spcPts val="3124"/>
              </a:lnSpc>
              <a:buFont typeface="Arial"/>
              <a:buChar char="⚬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bus then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routes the message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to the correct destination process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This removes the need for processes to know each other's internal details.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Processes in D-Bus can perform three main types of communication: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6534" y="6855019"/>
            <a:ext cx="10081622" cy="2606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AutoNum type="arabicPeriod"/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Method Calls (Request-Response)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A process sends a request asking another process to perform some action (e.g., "open a file" or "get system status").</a:t>
            </a:r>
          </a:p>
          <a:p>
            <a:pPr marL="320477" lvl="1" indent="-160238" algn="l">
              <a:lnSpc>
                <a:spcPts val="3124"/>
              </a:lnSpc>
              <a:buAutoNum type="arabicPeriod"/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Replies (Responses)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receiving process processes the request and sends back a result or confirmation.</a:t>
            </a:r>
          </a:p>
          <a:p>
            <a:pPr marL="320477" lvl="1" indent="-160238" algn="l">
              <a:lnSpc>
                <a:spcPts val="3124"/>
              </a:lnSpc>
              <a:buAutoNum type="arabicPeriod"/>
            </a:pP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Signals (Event Broadcasting)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A process can send a signal that is </a:t>
            </a:r>
            <a:r>
              <a:rPr lang="en-US" sz="2125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broadcast to multiple listeners</a:t>
            </a:r>
            <a:r>
              <a:rPr lang="en-US" sz="2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such as notifying that a device was connected or a setting changed.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1972030" y="2474119"/>
            <a:ext cx="4094112" cy="4085930"/>
            <a:chOff x="0" y="0"/>
            <a:chExt cx="5458816" cy="5447906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5458841" cy="5447919"/>
            </a:xfrm>
            <a:custGeom>
              <a:avLst/>
              <a:gdLst/>
              <a:ahLst/>
              <a:cxnLst/>
              <a:rect l="l" t="t" r="r" b="b"/>
              <a:pathLst>
                <a:path w="5458841" h="5447919">
                  <a:moveTo>
                    <a:pt x="0" y="0"/>
                  </a:moveTo>
                  <a:lnTo>
                    <a:pt x="5458841" y="0"/>
                  </a:lnTo>
                  <a:lnTo>
                    <a:pt x="5458841" y="5447919"/>
                  </a:lnTo>
                  <a:lnTo>
                    <a:pt x="0" y="54479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" r="-16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197446"/>
            <a:ext cx="7110860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Features Provided by D-Bus 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3683346"/>
            <a:ext cx="15872822" cy="434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High-Level IPC Mechanism 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Allows processes to communicate using structured messages rather than raw data.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Centralized Bus Architecture: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D-Bus uses a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central message bus (daemon)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that handles communication between processes i.e. processes do not need to directly connect with each other—the bus manages routing.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Asynchronous Communication Support: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Allows processes to send messages without waiting for a response improving performance and responsiveness.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Message-Based Communication: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All communication in D-Bus happens through well-defined messages such as method calls, replies, and signals ensuring </a:t>
            </a: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organized, consistent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data exchange.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3085652"/>
            <a:ext cx="6952212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Features Provided by D-Bus: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4571552"/>
            <a:ext cx="15872822" cy="2572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Security and Access Control: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Includes built-in security mechanisms to ensure only authorized processes can communicate.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Service-Oriented Communication: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Follows a service-based model where applications expose functionalities as services.</a:t>
            </a:r>
          </a:p>
          <a:p>
            <a:pPr marL="405309" lvl="1" indent="-202654" algn="l">
              <a:lnSpc>
                <a:spcPts val="4312"/>
              </a:lnSpc>
              <a:buAutoNum type="arabicPeriod"/>
            </a:pPr>
            <a:r>
              <a:rPr lang="en-US" sz="2687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Event Broadcasting (Signals):</a:t>
            </a:r>
            <a:r>
              <a:rPr lang="en-US" sz="268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D-Bus allows a process to send signals that can be received by multiple processes simultaneously. This is useful for system-wide notifications like hardware changes or system events.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0893" y="907104"/>
            <a:ext cx="6519710" cy="862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5125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Architecture of D-bus: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0893" y="2290315"/>
            <a:ext cx="15886214" cy="60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3937"/>
              </a:lnSpc>
              <a:buFont typeface="Arial"/>
              <a:buChar char="•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There are 3 layers in the architecture: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0893" y="2905125"/>
            <a:ext cx="15886214" cy="60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3937"/>
              </a:lnSpc>
              <a:buAutoNum type="arabicPeriod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Layer 1: D-bus Protocol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0893" y="3519935"/>
            <a:ext cx="15886214" cy="346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This is the lowest level of the stack. It isn't code, but a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specification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Binary Stream: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Unlike text-based protocols (JSON/XML), D-Bus uses a binary wire format. This allows for extremely fast marshaling and unmarshaling.</a:t>
            </a:r>
          </a:p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Type System: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It defines a strict type system (strings, integers, Booleans, arrays, and dictionaries) so that a C++ application and a Python application can understand the data being exchanged without ambiguity.</a:t>
            </a:r>
          </a:p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Message Types: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It defines four primary packets: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Method Calls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Method Returns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,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Signals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(broadcasts), and </a:t>
            </a: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Errors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00893" y="7504662"/>
            <a:ext cx="15886214" cy="602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6457" lvl="1" indent="-193229" algn="l">
              <a:lnSpc>
                <a:spcPts val="3937"/>
              </a:lnSpc>
              <a:buAutoNum type="arabicPeriod"/>
            </a:pP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Layer 2: C library( libdbus):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00893" y="8119462"/>
            <a:ext cx="15886214" cy="1724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Abstraction: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It provides the low-level API to open a connection to the bus, buffer messages, and handle the authentication handshake (usually via SASL).</a:t>
            </a:r>
          </a:p>
          <a:p>
            <a:pPr marL="815082" lvl="2" indent="-271694" algn="l">
              <a:lnSpc>
                <a:spcPts val="3937"/>
              </a:lnSpc>
              <a:buFont typeface="Arial"/>
              <a:buChar char="⚬"/>
            </a:pPr>
            <a:r>
              <a:rPr lang="en-US" sz="2562" b="1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dbus-python</a:t>
            </a:r>
            <a:r>
              <a:rPr lang="en-US" sz="2562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 These wrappers make D-Bus calls look like native function calls in that language.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22746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8" y="1418930"/>
            <a:ext cx="6564811" cy="645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74"/>
              </a:lnSpc>
            </a:pPr>
            <a:r>
              <a:rPr lang="en-US" sz="4312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Architecture of D-bus: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7589" y="2187778"/>
            <a:ext cx="4416628" cy="590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3. Layer 3: D-bus daemon: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54540" y="3312247"/>
            <a:ext cx="15872822" cy="228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This is the "brain" or the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Message Broker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Routing: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When Process A wants to talk to Process B, it doesn't connect to Process B directly. It sends a message to the Daemon. The Daemon looks at the "address" (the Bus Name) and routes the message to the correct recipient.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Lifecycle Management: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daemon can "auto-start" services. If you try to talk to a service that isn't running, the daemon can launch it on demand.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Security Policies: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daemon enforces XML-based security policies that define which users or processes are allowed to send specific messages.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4540" y="6275555"/>
            <a:ext cx="8927011" cy="5139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3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The Logic Hierarchy(Addressing)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1600" y="6974753"/>
            <a:ext cx="15872822" cy="236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To make this architecture functional, D-Bus uses a filesystem-like hierarchy to find specific code inside an application: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Bus Name: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"Address" of the application (e.g., </a:t>
            </a:r>
            <a:r>
              <a:rPr lang="en-US" sz="2125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org.freedesktop.NetworkManager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Object Path: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"Instance" inside the app (e.g., /org/</a:t>
            </a:r>
            <a:r>
              <a:rPr lang="en-US" sz="2125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freedesktop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/</a:t>
            </a:r>
            <a:r>
              <a:rPr lang="en-US" sz="2125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NetworkManager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/Devices/0).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Interface: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"Category" of functions (e.g., </a:t>
            </a:r>
            <a:r>
              <a:rPr lang="en-US" sz="2125" dirty="0" err="1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org.freedesktop.NetworkManager.Device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).</a:t>
            </a:r>
          </a:p>
          <a:p>
            <a:pPr marL="320477" lvl="1" indent="-160238" algn="l">
              <a:lnSpc>
                <a:spcPts val="3124"/>
              </a:lnSpc>
              <a:buFont typeface="Arial"/>
              <a:buChar char="•"/>
            </a:pP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Member: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The specific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Method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(function) or </a:t>
            </a:r>
            <a:r>
              <a:rPr lang="en-US" sz="2125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Signal</a:t>
            </a:r>
            <a:r>
              <a:rPr lang="en-US" sz="2125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(event) being triggered.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2413102"/>
            <a:ext cx="6901015" cy="919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ARCHITECTURE OF D-BUS: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24000" y="4229100"/>
            <a:ext cx="15872822" cy="3249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System vs. Session: The Two Buses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A key part of the architecture is that it usually runs two separate instances of the daemon: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The System Bus: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One per computer. Used for hardware events, system updates, and low-level kernel communication.</a:t>
            </a:r>
          </a:p>
          <a:p>
            <a:pPr marL="405309" lvl="1" indent="-202654" algn="l">
              <a:lnSpc>
                <a:spcPts val="4312"/>
              </a:lnSpc>
              <a:buFont typeface="Arial"/>
              <a:buChar char="•"/>
            </a:pPr>
            <a:r>
              <a:rPr lang="en-US" sz="2687" b="1" dirty="0">
                <a:solidFill>
                  <a:srgbClr val="383838"/>
                </a:solidFill>
                <a:latin typeface="Arimo Bold"/>
                <a:ea typeface="Arimo Bold"/>
                <a:cs typeface="Arimo Bold"/>
                <a:sym typeface="Arimo Bold"/>
              </a:rPr>
              <a:t>The Session Bus:</a:t>
            </a:r>
            <a:r>
              <a:rPr lang="en-US" sz="2687" dirty="0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 One per user login. Used for desktop-level tasks like volume control, notifications, and clipboard sharing.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7F7F7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207589" y="4472140"/>
            <a:ext cx="9523514" cy="1266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12"/>
              </a:lnSpc>
            </a:pPr>
            <a:r>
              <a:rPr lang="en-US" sz="7437">
                <a:solidFill>
                  <a:srgbClr val="383838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3388</Words>
  <Application>Microsoft Office PowerPoint</Application>
  <PresentationFormat>Custom</PresentationFormat>
  <Paragraphs>298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Arimo Bold</vt:lpstr>
      <vt:lpstr>Arimo</vt:lpstr>
      <vt:lpstr>Calibri</vt:lpstr>
      <vt:lpstr>Arial</vt:lpstr>
      <vt:lpstr>Arimo Bold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Buffering and Message Queues Messages are often stored temporarily in buffers or queues managed by the OS. There are three types:</dc:title>
  <dc:creator>Sanu Roy</dc:creator>
  <cp:lastModifiedBy>Sanu Roy</cp:lastModifiedBy>
  <cp:revision>2</cp:revision>
  <dcterms:created xsi:type="dcterms:W3CDTF">2006-08-16T00:00:00Z</dcterms:created>
  <dcterms:modified xsi:type="dcterms:W3CDTF">2026-04-07T16:44:19Z</dcterms:modified>
  <dc:identifier>DAHGLxKUvdY</dc:identifier>
</cp:coreProperties>
</file>